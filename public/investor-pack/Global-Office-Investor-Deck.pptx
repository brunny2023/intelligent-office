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Limited.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Organization Health Dashboard</a:t>
            </a:r>
          </a:p>
          <a:p>
            <a:r>
              <a:rPr sz="1300">
                <a:solidFill>
                  <a:srgbClr val="C8CEDC"/>
                </a:solidFill>
              </a:rPr>
              <a:t>Real activity signal — attendance, execution, KPIs and AI insight in one glance.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AI Executive Control Center</a:t>
            </a:r>
          </a:p>
          <a:p>
            <a:r>
              <a:rPr sz="1300">
                <a:solidFill>
                  <a:srgbClr val="C8CEDC"/>
                </a:solidFill>
              </a:rPr>
              <a:t>Weighted health score, risk alerts and department performance in a single command surface.</a:t>
            </a:r>
          </a:p>
        </p:txBody>
      </p:sp>
      <p:pic>
        <p:nvPicPr>
          <p:cNvPr id="3" name="Picture 2" descr="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Knowledge Graph Explorer</a:t>
            </a:r>
          </a:p>
          <a:p>
            <a:r>
              <a:rPr sz="1300">
                <a:solidFill>
                  <a:srgbClr val="C8CEDC"/>
                </a:solidFill>
              </a:rPr>
              <a:t>Every person, task, message and decision as a queryable node.</a:t>
            </a:r>
          </a:p>
        </p:txBody>
      </p:sp>
      <p:pic>
        <p:nvPicPr>
          <p:cNvPr id="3" name="Picture 2" descr="knowledge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Workflow Builder</a:t>
            </a:r>
          </a:p>
          <a:p>
            <a:r>
              <a:rPr sz="1300">
                <a:solidFill>
                  <a:srgbClr val="C8CEDC"/>
                </a:solidFill>
              </a:rPr>
              <a:t>Visual IF/THEN automation across every module — composed by operators.</a:t>
            </a:r>
          </a:p>
        </p:txBody>
      </p:sp>
      <p:pic>
        <p:nvPicPr>
          <p:cNvPr id="3" name="Picture 2" descr="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Meetings Intelligence</a:t>
            </a:r>
          </a:p>
          <a:p>
            <a:r>
              <a:rPr sz="1300">
                <a:solidFill>
                  <a:srgbClr val="C8CEDC"/>
                </a:solidFill>
              </a:rPr>
              <a:t>Live video with AI transcription, summaries and auto-extracted action points.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Limited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Limited,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Limited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Execution Engine</a:t>
            </a:r>
          </a:p>
          <a:p>
            <a:r>
              <a:rPr sz="1300">
                <a:solidFill>
                  <a:srgbClr val="C8CEDC"/>
                </a:solidFill>
              </a:rPr>
              <a:t>Kanban delivery with AI priority scoring, workload balancing and slip prediction.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0000" y="380000"/>
            <a:ext cx="107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A22E"/>
                </a:solidFill>
              </a:rPr>
              <a:t>PRODUCT</a:t>
            </a:r>
          </a:p>
          <a:p>
            <a:r>
              <a:rPr sz="2800">
                <a:solidFill>
                  <a:srgbClr val="FFFFFF"/>
                </a:solidFill>
              </a:rPr>
              <a:t>Predictive AI Insights</a:t>
            </a:r>
          </a:p>
          <a:p>
            <a:r>
              <a:rPr sz="1300">
                <a:solidFill>
                  <a:srgbClr val="C8CEDC"/>
                </a:solidFill>
              </a:rPr>
              <a:t>Proactive alerts on slipping work, burnout risk and revenue exposure — before they cost money.</a:t>
            </a:r>
          </a:p>
        </p:txBody>
      </p:sp>
      <p:pic>
        <p:nvPicPr>
          <p:cNvPr id="3" name="Picture 2" descr="mee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01" y="2000000"/>
            <a:ext cx="7756997" cy="43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