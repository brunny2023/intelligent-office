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85" r:id="rId36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15.xml"/><Relationship Id="rId10" Type="http://schemas.openxmlformats.org/officeDocument/2006/relationships/slide" Target="slides/slide16.xml"/><Relationship Id="rId11" Type="http://schemas.openxmlformats.org/officeDocument/2006/relationships/slide" Target="slides/slide17.xml"/><Relationship Id="rId12" Type="http://schemas.openxmlformats.org/officeDocument/2006/relationships/slide" Target="slides/slide18.xml"/><Relationship Id="rId13" Type="http://schemas.openxmlformats.org/officeDocument/2006/relationships/slide" Target="slides/slide19.xml"/><Relationship Id="rId14" Type="http://schemas.openxmlformats.org/officeDocument/2006/relationships/slide" Target="slides/slide20.xml"/><Relationship Id="rId15" Type="http://schemas.openxmlformats.org/officeDocument/2006/relationships/slide" Target="slides/slide21.xml"/><Relationship Id="rId16" Type="http://schemas.openxmlformats.org/officeDocument/2006/relationships/slide" Target="slides/slide23.xml"/><Relationship Id="rId17" Type="http://schemas.openxmlformats.org/officeDocument/2006/relationships/slide" Target="slides/slide24.xml"/><Relationship Id="rId18" Type="http://schemas.openxmlformats.org/officeDocument/2006/relationships/slide" Target="slides/slide25.xml"/><Relationship Id="rId19" Type="http://schemas.openxmlformats.org/officeDocument/2006/relationships/slide" Target="slides/slide26.xml"/><Relationship Id="rId20" Type="http://schemas.openxmlformats.org/officeDocument/2006/relationships/slide" Target="slides/slide27.xml"/><Relationship Id="rId21" Type="http://schemas.openxmlformats.org/officeDocument/2006/relationships/slide" Target="slides/slide28.xml"/><Relationship Id="rId22" Type="http://schemas.openxmlformats.org/officeDocument/2006/relationships/slide" Target="slides/slide29.xml"/><Relationship Id="rId23" Type="http://schemas.openxmlformats.org/officeDocument/2006/relationships/slide" Target="slides/slide30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Relationship Id="rId29" Type="http://schemas.openxmlformats.org/officeDocument/2006/relationships/slide" Target="slides/slide8.xml"/><Relationship Id="rId30" Type="http://schemas.openxmlformats.org/officeDocument/2006/relationships/slide" Target="slides/slide9.xml"/><Relationship Id="rId31" Type="http://schemas.openxmlformats.org/officeDocument/2006/relationships/slide" Target="slides/slide10.xml"/><Relationship Id="rId32" Type="http://schemas.openxmlformats.org/officeDocument/2006/relationships/slide" Target="slides/slide11.xml"/><Relationship Id="rId33" Type="http://schemas.openxmlformats.org/officeDocument/2006/relationships/slide" Target="slides/slide12.xml"/><Relationship Id="rId34" Type="http://schemas.openxmlformats.org/officeDocument/2006/relationships/slide" Target="slides/slide13.xml"/><Relationship Id="rId35" Type="http://schemas.openxmlformats.org/officeDocument/2006/relationships/slide" Target="slides/slide14.xml"/><Relationship Id="rId36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Opening. Introduce yourself: Wisdom Jonathans, Founder &amp; CEO of Soteria AI Technologies. We're building Global Office — the operating system for the next generation of businesses in emerging markets. This deck is a pre-seed investment opportunity for a $1.5M round. Set the tone: institutional, evidence-based, ambitious. Pause 3 seconds after the cover.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one-sentence thesis. Read slowly. Small and mid-sized enterprises are the economic backbone of emerging markets, yet they operate on fragmented, imported software that was never designed for them. Global Office consolidates the entire operational stack — attendance, execution, communication, HR, finance, intelligence — into one AI-native platform, priced and engineered for how these businesses actually run. Emphasize the words "AI-native" and "one platform."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concurrent shifts create the window. (1) Africa's digital economy is projected at $712B by 2050 — GSMA, Endeavor. (2) Generative AI has collapsed the cost of building enterprise workflows by an order of magnitude — Stanford AI Index 2024. (3) SME cloud adoption in SSA grew ~34% CAGR 2020–2024 — IFC, Partech Africa. The result: for the first time, it is economically viable to build one AI-native platform for this market. Windows like this open once per decade.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problem is not "SMEs need software." SMEs already use 8–12 tools. The problem is fragmentation. Every emerging-market SME runs on a Frankenstein stack of WhatsApp, Excel, Google Sheets, a locally-hosted HR tool, a foreign accounting tool priced in USD, and paper. Nothing talks to each other. Owners spend 40%+ of their week reconciling data across tools instead of running the business. This is not a UX problem; it is a structural problem.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Global Office is one platform, one login, one data model, spanning attendance, execution, communication, HR, finance, and intelligence. It is AI-native — meaning intelligence is not a feature bolted on; it is the substrate. The system observes work, learns patterns, and surfaces decisions. Think of it as the operating system for a mid-market business, priced and localized for the markets it serves.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are defining a new category: the AI-Native Business Operating System, or AI-BOS. This is different from a CRM (Salesforce), an ERP (SAP/NetSuite), or a work OS (Monday, ClickUp). Those are horizontal tools with AI features. AI-BOS is a vertical, unified system where AI is the substrate — it observes, interprets, and orchestrates work across every function. Categories are how enterprise software wins: Salesforce created CRM, ServiceNow created ITSM. We are creating AI-BOS.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Architecturally, Global Office is a multi-tenant platform with strict organizational isolation, a unified event bus, and an intelligence layer that sits above all modules. Every action becomes an event; every event feeds the AI layer, which produces insights, alerts, and recommendations back into the modules. This is what makes AI-native different from AI-added.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Market sizing, bottom-up. TAM: global SME software spend is $250B+ by 2027 per Gartner and IDC. SAM: Sub-Saharan African + adjacent emerging market SME software is estimated at $18–24B by 2030, based on ~50M formal SMEs and per-org spend benchmarks (IFC, Endeavor, Partech). SOM: capturing 0.5% of SAM in 5 years is $90–120M ARR — a credible, evidence-based path. These are ranges, not point estimates, because we refuse to fabricate precision.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Competitive landscape mapped on two axes: horizontal breadth versus intelligence depth. Microsoft 365, Google Workspace — broad but shallow, priced for OECD. NetSuite, SAP — deep but ERP-heavy, IT-led, 12+ month deploys. Monday, ClickUp, Notion — horizontal work OS, AI features bolted on. Zoho — broad but fragmented UX, weak AI. The white space is upper-right: unified breadth plus AI-native intelligence, engineered for emerging-market SMEs. That is Global Office.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Business model is per-organization SaaS with three tiers: Starter, Growth, Scale, priced in local currency to remove FX friction. AI credits meter compute-intensive features so cost scales with value. Expected gross margins in the 84–88% range consistent with vertical SaaS benchmarks — this is a range, not a claim. Enterprise editions and partner channels unlock the upper end of the market from year three onward.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GTM is sequenced. Wedge: 20–200 person SMEs in Lagos, Nairobi, Accra, Cairo, Johannesburg. Motion: founder-led sales + product-led onboarding + partner channels (business associations, accounting firms, HR consultancies). Year 2 opens mid-market. Year 3 opens enterprise editions and vertical channels (education, healthcare, hospitality, government).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Honest posture. We are pre-seed, pre-launch. What we have: (1) full working platform architected and shipped — not a prototype; (2) founder–market fit — I am building for the market I come from; (3) design partner conversations underway. What we do not have and will not fabricate: paid ARR, retention cohorts, LOIs at scale. The purpose of this round is to convert product-readiness into signed pilots and retention data in the next 9 months.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compounding moats. (1) Data flywheel: every organization's activity feeds an intelligence layer that becomes more useful the more orgs are on it. (2) Workflow lock-in: unlike a point tool, an OS is where the work lives. (3) Local distribution: partner channels that global incumbents cannot replicate cheaply. (4) Compliance capital: NDPR/GDPR-ready architecture is a barrier for latecomers in regulated segments like HR, finance, health.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Financial framework, not fabricated forecast. Ranges are strategic assumptions to be validated in pilots. Blended ARPO $2.4K–$4.2K/yr. Gross margin 84–88%. CAC payback 6–9 months at Growth tier. Year 5 modeled scenarios: conservative $18M ARR, base $42M, upside $95M. All numbers will be re-baselined against pilot data before Series A. We show the math, not fiction.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Founder–market fit is the single strongest signal at pre-seed. I am Wisdom Jonathans, Nigerian entrepreneur, AI systems strategist, technology founder. I have built AI-powered products across business operations. I am building Global Office because I lived the pain — running organizations in this market with tools built for another one. Key hires post-round: VP Engineering (Lagos/Nairobi), Head of Growth, Design Partner Lead.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are raising $1.5M pre-seed on a SAFE. Use of funds: 55% engineering and product to deepen the AI layer and ship two verticals; 25% go-to-market to run 30–50 design partner pilots across the five anchor cities; 12% compliance and security certifications; 8% general and administrative. This capital carries the company through the milestones on the next slide — enough evidence to open a $6–10M Series A in 18–24 months.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Falsifiable milestones — the ones that unlock Series A. Month 6: 20 signed design partners across three cities. Month 12: first $500K–$1M ARR, cohort retention data, two verticals shipped. Month 18: $2M+ ARR, NRR above 115%, first enterprise reference, SOC 2 Type I. Month 24: Series A ready.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pre-seed deck that avoids risks is a red flag. Four categories: market timing, competitive response, execution capacity, macro/FX. For each, we state the risk and the specific mitigation. Investors want to see we have thought about what can kill the company.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Exit optionality is real. Strategic acquirers: Microsoft, Google, SAP, Zoho, Freshworks — all actively acquiring emerging-market SaaS. IPO precedents: MTN, Interswitch, Jumia. DFI-backed exits: growing. We are not pitching a lifestyle business; we are pitching a category winner.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Governance signals for a $10M+ check. Clean cap table. Delaware/UK holdco under evaluation. IP fully owned by Soteria AI Technologies Inc.. NDPR/GDPR by design. SOC 2 Type I on the roadmap. No undisclosed liabilities. Data room ready.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vision. In ten years, Global Office is to emerging-market enterprises what Microsoft 365 became to OECD enterprises — the default operating layer. But engineered differently: AI-native from the substrate, priced for the market it serves, distributed through networks the incumbents cannot access. Category-defining companies do not emerge often. This is one of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Close. Thank them. Offer the next step: 45-minute product walkthrough, data room access, reference calls with design partners. Ask for the meeting, not for the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5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36576" cy="5943600"/>
          </a:xfrm>
          <a:prstGeom prst="rect">
            <a:avLst/>
          </a:prstGeom>
          <a:solidFill>
            <a:srgbClr val="C9A24C"/>
          </a:solidFill>
          <a:ln w="12700">
            <a:solidFill>
              <a:srgbClr val="C9A24C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822960" y="50292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SOTERIA AI TECHNOLOGIES INC.  ·  DELAWARE C-CORPORATION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822960" y="2011680"/>
            <a:ext cx="10972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Global Office</a:t>
            </a:r>
            <a:endParaRPr lang="en-US" sz="8800" dirty="0"/>
          </a:p>
        </p:txBody>
      </p:sp>
      <p:sp>
        <p:nvSpPr>
          <p:cNvPr id="5" name="Text 3"/>
          <p:cNvSpPr/>
          <p:nvPr/>
        </p:nvSpPr>
        <p:spPr>
          <a:xfrm>
            <a:off x="822960" y="356616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AI-Native Business Operating System</a:t>
            </a:r>
            <a:endParaRPr lang="en-US" sz="2600" dirty="0"/>
          </a:p>
          <a:p>
            <a:pPr indent="0" marL="0">
              <a:buNone/>
            </a:pPr>
            <a:r>
              <a:rPr lang="en-US" sz="2600" i="1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 Emerging Market Enterprises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822960" y="4937760"/>
            <a:ext cx="2743200" cy="0"/>
          </a:xfrm>
          <a:prstGeom prst="line">
            <a:avLst/>
          </a:prstGeom>
          <a:noFill/>
          <a:ln w="12700">
            <a:solidFill>
              <a:srgbClr val="C9A24C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822960" y="50749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Pre-Seed Investment Opportunity  ·  $1.5M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548640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Wisdom Jonathans, Founder &amp; CEO  ·  Lagos, Nigeria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22960" y="603504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— 2026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5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THESIS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463040"/>
            <a:ext cx="1124712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6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AI-native platform to run the operational core of every emerging-market enterprise — the category incumbents never built for.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457200" y="4937760"/>
            <a:ext cx="1097280" cy="36576"/>
          </a:xfrm>
          <a:prstGeom prst="rect">
            <a:avLst/>
          </a:prstGeom>
          <a:solidFill>
            <a:srgbClr val="C9A24C"/>
          </a:solidFill>
          <a:ln w="12700">
            <a:solidFill>
              <a:srgbClr val="C9A24C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57200" y="507492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WISDOM JONATHANS  ·  FOUNDER &amp; CEO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9525">
            <a:solidFill>
              <a:srgbClr val="2A3562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OFFICE  /  CONFIDENTIAL INVESTOR MATERIALS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905695" y="65105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/ 22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5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NOW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2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shifts are converging — one platform for this market is finally viable.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i="1" dirty="0">
                <a:solidFill>
                  <a:srgbClr val="C9A2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1554480" y="233172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Digital economy tailwind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554480" y="2788920"/>
            <a:ext cx="10058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Africa's digital economy is projected to reach $712B by 2050, contributing 8.5% of GDP. SSA is the fastest-growing tech investment region per capita.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3566160"/>
            <a:ext cx="1097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i="1" dirty="0">
                <a:solidFill>
                  <a:srgbClr val="C9A2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1554480" y="361188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Generative AI cost collapse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554480" y="4069080"/>
            <a:ext cx="10058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per token has fallen ~80% year-over-year; enterprise workflows that required 12-month builds now ship in weeks. AI-native architecture is the new baseline.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4846320"/>
            <a:ext cx="1097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i="1" dirty="0">
                <a:solidFill>
                  <a:srgbClr val="C9A2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1554480" y="489204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SME cloud adoption inflection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554480" y="5349240"/>
            <a:ext cx="10058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 cloud/SaaS adoption in Sub-Saharan Africa grew at ~34% CAGR from 2020–2024, outpacing all other regions. Buyer readiness is here.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GSMA Mobile Economy Sub-Saharan Africa 2024; Endeavor Nigeria Insights 2023; Stanford AI Index 2024; IFC/Partech Africa Tech Venture Capital Report 2024.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9525">
            <a:solidFill>
              <a:srgbClr val="2A3562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OFFICE  /  CONFIDENTIAL INVESTOR MATERIALS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9905695" y="65105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/ 22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5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Emerging-market SMEs run on fragmented, foreign software that was never built for them.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2286000"/>
            <a:ext cx="5394960" cy="173736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457200" y="2286000"/>
            <a:ext cx="54864" cy="1737360"/>
          </a:xfrm>
          <a:prstGeom prst="rect">
            <a:avLst/>
          </a:prstGeom>
          <a:solidFill>
            <a:srgbClr val="C9A24C"/>
          </a:solidFill>
          <a:ln w="12700">
            <a:solidFill>
              <a:srgbClr val="C9A24C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46888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Fragmentation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731520" y="2971800"/>
            <a:ext cx="49377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typical 20–200 person SME runs 8–12 disconnected tools. Data lives in silos; decisions rely on manual reconciliation.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172200" y="2286000"/>
            <a:ext cx="5394960" cy="173736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6172200" y="2286000"/>
            <a:ext cx="54864" cy="1737360"/>
          </a:xfrm>
          <a:prstGeom prst="rect">
            <a:avLst/>
          </a:prstGeom>
          <a:solidFill>
            <a:srgbClr val="C9A24C"/>
          </a:solidFill>
          <a:ln w="12700">
            <a:solidFill>
              <a:srgbClr val="C9A24C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446520" y="246888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Foreign pricing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6446520" y="2971800"/>
            <a:ext cx="49377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USD-priced SaaS consumes 3–5x more of local operating budgets than in OECD markets. Enterprise tiers are out of reach entirely.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4206240"/>
            <a:ext cx="5394960" cy="173736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457200" y="4206240"/>
            <a:ext cx="54864" cy="1737360"/>
          </a:xfrm>
          <a:prstGeom prst="rect">
            <a:avLst/>
          </a:prstGeom>
          <a:solidFill>
            <a:srgbClr val="C9A24C"/>
          </a:solidFill>
          <a:ln w="12700">
            <a:solidFill>
              <a:srgbClr val="C9A24C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31520" y="438912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Missing context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731520" y="4892040"/>
            <a:ext cx="49377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suites assume high-bandwidth, formalized workflows, and English-only teams. None of that holds in Lagos, Nairobi, or Accra.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172200" y="4206240"/>
            <a:ext cx="5394960" cy="173736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6172200" y="4206240"/>
            <a:ext cx="54864" cy="1737360"/>
          </a:xfrm>
          <a:prstGeom prst="rect">
            <a:avLst/>
          </a:prstGeom>
          <a:solidFill>
            <a:srgbClr val="C9A24C"/>
          </a:solidFill>
          <a:ln w="12700">
            <a:solidFill>
              <a:srgbClr val="C9A24C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6446520" y="438912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intelligence layer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6446520" y="4892040"/>
            <a:ext cx="49377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stacks record activity; they do not interpret it. Owners have data but no decision support.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9525">
            <a:solidFill>
              <a:srgbClr val="2A3562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OFFICE  /  CONFIDENTIAL INVESTOR MATERIALS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9905695" y="65105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/ 22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5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Global Office — one AI-native platform for the entire operational core.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457200" y="2194560"/>
            <a:ext cx="3657600" cy="91440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40080" y="233172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40080" y="260604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Attendance &amp; Leave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4370832" y="2194560"/>
            <a:ext cx="3657600" cy="91440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553712" y="233172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53712" y="260604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Execution &amp; Tasks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8284464" y="2194560"/>
            <a:ext cx="3657600" cy="91440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8467344" y="233172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467344" y="260604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Communication Hub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457200" y="3291840"/>
            <a:ext cx="3657600" cy="91440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40080" y="342900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40080" y="370332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HR &amp; Payroll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4370832" y="3291840"/>
            <a:ext cx="3657600" cy="91440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4553712" y="342900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53712" y="370332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Finance &amp; Invoicing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8284464" y="3291840"/>
            <a:ext cx="3657600" cy="91440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8467344" y="342900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467344" y="370332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Meetings &amp; Docs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457200" y="4389120"/>
            <a:ext cx="3657600" cy="91440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640080" y="45262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40080" y="4800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Executive Control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4370832" y="4389120"/>
            <a:ext cx="3657600" cy="91440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4553712" y="45262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553712" y="4800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Workflow Automation</a:t>
            </a:r>
            <a:endParaRPr lang="en-US" sz="1700" dirty="0"/>
          </a:p>
        </p:txBody>
      </p:sp>
      <p:sp>
        <p:nvSpPr>
          <p:cNvPr id="28" name="Shape 26"/>
          <p:cNvSpPr/>
          <p:nvPr/>
        </p:nvSpPr>
        <p:spPr>
          <a:xfrm>
            <a:off x="8284464" y="4389120"/>
            <a:ext cx="3657600" cy="91440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8467344" y="45262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467344" y="4800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Intelligence Layer</a:t>
            </a:r>
            <a:endParaRPr lang="en-US" sz="1700" dirty="0"/>
          </a:p>
        </p:txBody>
      </p:sp>
      <p:sp>
        <p:nvSpPr>
          <p:cNvPr id="31" name="Text 29"/>
          <p:cNvSpPr/>
          <p:nvPr/>
        </p:nvSpPr>
        <p:spPr>
          <a:xfrm>
            <a:off x="457200" y="576072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spc="2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data model  ·  Multi-tenant  ·  Role-based  ·  Offline-tolerant  ·  Low-bandwidth optimized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9525">
            <a:solidFill>
              <a:srgbClr val="2A3562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OFFICE  /  CONFIDENTIAL INVESTOR MATERIALS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9905695" y="65105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 / 22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5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new category: AI-Native Business Operating System (AI-BOS).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457200" y="219456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657600" y="219456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role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675120" y="219456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9601200" y="219456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reality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7200" y="2560320"/>
            <a:ext cx="11247120" cy="0"/>
          </a:xfrm>
          <a:prstGeom prst="line">
            <a:avLst/>
          </a:prstGeom>
          <a:noFill/>
          <a:ln w="9525">
            <a:solidFill>
              <a:srgbClr val="2A3562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57200" y="2697480"/>
            <a:ext cx="3108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Traditional ERP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3657600" y="2697480"/>
            <a:ext cx="2926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transactions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675120" y="2697480"/>
            <a:ext cx="2834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Suites of modules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601200" y="2697480"/>
            <a:ext cx="2468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IT-led, 12–24mo deploy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3474720"/>
            <a:ext cx="3108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 OS / PM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657600" y="3474720"/>
            <a:ext cx="2926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Coordinates tasks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675120" y="3474720"/>
            <a:ext cx="2834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Horizontal, per-seat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601200" y="3474720"/>
            <a:ext cx="2468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Team-led, weeks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57200" y="4251960"/>
            <a:ext cx="3108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features on top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3657600" y="4251960"/>
            <a:ext cx="2926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Adds copilots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675120" y="4251960"/>
            <a:ext cx="2834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Bolted onto legacy UX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9601200" y="4251960"/>
            <a:ext cx="2468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Uneven, siloed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65760" y="4956048"/>
            <a:ext cx="11430000" cy="685800"/>
          </a:xfrm>
          <a:prstGeom prst="rect">
            <a:avLst/>
          </a:prstGeom>
          <a:solidFill>
            <a:srgbClr val="13204A"/>
          </a:solidFill>
          <a:ln w="12700">
            <a:solidFill>
              <a:srgbClr val="13204A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457200" y="5029200"/>
            <a:ext cx="3108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2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AI-BOS (Global Office)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3657600" y="5029200"/>
            <a:ext cx="2926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Observes, interprets, orchestrates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675120" y="5029200"/>
            <a:ext cx="2834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operational core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9601200" y="5029200"/>
            <a:ext cx="2468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Org-wide, days to weeks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Framework: category-creation playbook per Play Bigger (2016); pattern precedents include Salesforce (CRM), ServiceNow (ITSM), HubSpot (Inbound).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9525">
            <a:solidFill>
              <a:srgbClr val="2A3562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OFFICE  /  CONFIDENTIAL INVESTOR MATERIALS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9905695" y="65105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 / 22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5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ARCHITECTURE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event stream. One intelligence layer. Every module contributes and benefits.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1371600" y="2194560"/>
            <a:ext cx="9418320" cy="822960"/>
          </a:xfrm>
          <a:prstGeom prst="rect">
            <a:avLst/>
          </a:prstGeom>
          <a:solidFill>
            <a:srgbClr val="13204A"/>
          </a:solidFill>
          <a:ln w="19050">
            <a:solidFill>
              <a:srgbClr val="C9A24C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600200" y="22860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A2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Intelligence Layer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600200" y="2651760"/>
            <a:ext cx="8961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detection · Workload balancing · Predictive alerts · Suggestive decisions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371600" y="3154680"/>
            <a:ext cx="9418320" cy="82296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600200" y="32461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Unified Event Bus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600200" y="3611880"/>
            <a:ext cx="8961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module emits and subscribes — one canonical view of the organization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371600" y="4114800"/>
            <a:ext cx="9418320" cy="82296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1600200" y="42062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Operational Modules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600200" y="4572000"/>
            <a:ext cx="8961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· Execution · HR · Finance · Comms · Meetings · Docs · Workflows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1371600" y="5074920"/>
            <a:ext cx="9418320" cy="82296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1600200" y="51663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Multi-Tenant Foundation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600200" y="5532120"/>
            <a:ext cx="8961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 &gt; Dept &gt; User hierarchy · Row-level security · Role-based access · Audit trail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9525">
            <a:solidFill>
              <a:srgbClr val="2A3562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OFFICE  /  CONFIDENTIAL INVESTOR MATERIALS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9905695" y="65105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 / 22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00000" y="380000"/>
            <a:ext cx="1079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9A22E"/>
                </a:solidFill>
              </a:rPr>
              <a:t>PRODUCT</a:t>
            </a:r>
          </a:p>
          <a:p>
            <a:r>
              <a:rPr sz="2800">
                <a:solidFill>
                  <a:srgbClr val="FFFFFF"/>
                </a:solidFill>
              </a:rPr>
              <a:t>Organization Health Dashboard</a:t>
            </a:r>
          </a:p>
          <a:p>
            <a:r>
              <a:rPr sz="1300">
                <a:solidFill>
                  <a:srgbClr val="C8CEDC"/>
                </a:solidFill>
              </a:rPr>
              <a:t>Real activity signal — attendance, execution, KPIs and AI insight in one glance.</a:t>
            </a:r>
          </a:p>
        </p:txBody>
      </p:sp>
      <p:pic>
        <p:nvPicPr>
          <p:cNvPr id="3" name="Picture 2" descr="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7501" y="2000000"/>
            <a:ext cx="7756997" cy="43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00000" y="380000"/>
            <a:ext cx="1079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9A22E"/>
                </a:solidFill>
              </a:rPr>
              <a:t>PRODUCT</a:t>
            </a:r>
          </a:p>
          <a:p>
            <a:r>
              <a:rPr sz="2800">
                <a:solidFill>
                  <a:srgbClr val="FFFFFF"/>
                </a:solidFill>
              </a:rPr>
              <a:t>AI Executive Control Center</a:t>
            </a:r>
          </a:p>
          <a:p>
            <a:r>
              <a:rPr sz="1300">
                <a:solidFill>
                  <a:srgbClr val="C8CEDC"/>
                </a:solidFill>
              </a:rPr>
              <a:t>Weighted health score, risk alerts and department performance in a single command surface.</a:t>
            </a:r>
          </a:p>
        </p:txBody>
      </p:sp>
      <p:pic>
        <p:nvPicPr>
          <p:cNvPr id="3" name="Picture 2" descr="execut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7501" y="2000000"/>
            <a:ext cx="7756997" cy="43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00000" y="380000"/>
            <a:ext cx="1079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9A22E"/>
                </a:solidFill>
              </a:rPr>
              <a:t>PRODUCT</a:t>
            </a:r>
          </a:p>
          <a:p>
            <a:r>
              <a:rPr sz="2800">
                <a:solidFill>
                  <a:srgbClr val="FFFFFF"/>
                </a:solidFill>
              </a:rPr>
              <a:t>Knowledge Graph Explorer</a:t>
            </a:r>
          </a:p>
          <a:p>
            <a:r>
              <a:rPr sz="1300">
                <a:solidFill>
                  <a:srgbClr val="C8CEDC"/>
                </a:solidFill>
              </a:rPr>
              <a:t>Every person, task, message and decision as a queryable node.</a:t>
            </a:r>
          </a:p>
        </p:txBody>
      </p:sp>
      <p:pic>
        <p:nvPicPr>
          <p:cNvPr id="3" name="Picture 2" descr="knowledge-grap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7501" y="2000000"/>
            <a:ext cx="7756997" cy="43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00000" y="380000"/>
            <a:ext cx="1079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9A22E"/>
                </a:solidFill>
              </a:rPr>
              <a:t>PRODUCT</a:t>
            </a:r>
          </a:p>
          <a:p>
            <a:r>
              <a:rPr sz="2800">
                <a:solidFill>
                  <a:srgbClr val="FFFFFF"/>
                </a:solidFill>
              </a:rPr>
              <a:t>Workflow Builder</a:t>
            </a:r>
          </a:p>
          <a:p>
            <a:r>
              <a:rPr sz="1300">
                <a:solidFill>
                  <a:srgbClr val="C8CEDC"/>
                </a:solidFill>
              </a:rPr>
              <a:t>Visual IF/THEN automation across every module — composed by operators.</a:t>
            </a:r>
          </a:p>
        </p:txBody>
      </p:sp>
      <p:pic>
        <p:nvPicPr>
          <p:cNvPr id="3" name="Picture 2" descr="workflow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7501" y="2000000"/>
            <a:ext cx="7756997" cy="43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00000" y="380000"/>
            <a:ext cx="1079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9A22E"/>
                </a:solidFill>
              </a:rPr>
              <a:t>PRODUCT</a:t>
            </a:r>
          </a:p>
          <a:p>
            <a:r>
              <a:rPr sz="2800">
                <a:solidFill>
                  <a:srgbClr val="FFFFFF"/>
                </a:solidFill>
              </a:rPr>
              <a:t>Meetings Intelligence</a:t>
            </a:r>
          </a:p>
          <a:p>
            <a:r>
              <a:rPr sz="1300">
                <a:solidFill>
                  <a:srgbClr val="C8CEDC"/>
                </a:solidFill>
              </a:rPr>
              <a:t>Live video with AI transcription, summaries and auto-extracted action points.</a:t>
            </a:r>
          </a:p>
        </p:txBody>
      </p:sp>
      <p:pic>
        <p:nvPicPr>
          <p:cNvPr id="3" name="Picture 2" descr="meeting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17501" y="2000000"/>
            <a:ext cx="7756997" cy="43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00000" y="380000"/>
            <a:ext cx="1079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9A22E"/>
                </a:solidFill>
              </a:rPr>
              <a:t>PRODUCT</a:t>
            </a:r>
          </a:p>
          <a:p>
            <a:r>
              <a:rPr sz="2800">
                <a:solidFill>
                  <a:srgbClr val="FFFFFF"/>
                </a:solidFill>
              </a:rPr>
              <a:t>Execution Engine</a:t>
            </a:r>
          </a:p>
          <a:p>
            <a:r>
              <a:rPr sz="1300">
                <a:solidFill>
                  <a:srgbClr val="C8CEDC"/>
                </a:solidFill>
              </a:rPr>
              <a:t>Kanban delivery with AI priority scoring, workload balancing and slip prediction.</a:t>
            </a:r>
          </a:p>
        </p:txBody>
      </p:sp>
      <p:pic>
        <p:nvPicPr>
          <p:cNvPr id="3" name="Picture 2" descr="meeting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7501" y="2000000"/>
            <a:ext cx="7756997" cy="43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00000" y="380000"/>
            <a:ext cx="1079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9A22E"/>
                </a:solidFill>
              </a:rPr>
              <a:t>PRODUCT</a:t>
            </a:r>
          </a:p>
          <a:p>
            <a:r>
              <a:rPr sz="2800">
                <a:solidFill>
                  <a:srgbClr val="FFFFFF"/>
                </a:solidFill>
              </a:rPr>
              <a:t>Predictive AI Insights</a:t>
            </a:r>
          </a:p>
          <a:p>
            <a:r>
              <a:rPr sz="1300">
                <a:solidFill>
                  <a:srgbClr val="C8CEDC"/>
                </a:solidFill>
              </a:rPr>
              <a:t>Proactive alerts on slipping work, burnout risk and revenue exposure — before they cost money.</a:t>
            </a:r>
          </a:p>
        </p:txBody>
      </p:sp>
      <p:pic>
        <p:nvPicPr>
          <p:cNvPr id="3" name="Picture 2" descr="meeting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7501" y="2000000"/>
            <a:ext cx="7756997" cy="43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5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large, cited, bottom-up market — with an evidence-based path to $100M ARR.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457200" y="2194560"/>
            <a:ext cx="3657600" cy="338328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457200" y="2194560"/>
            <a:ext cx="3657600" cy="54864"/>
          </a:xfrm>
          <a:prstGeom prst="rect">
            <a:avLst/>
          </a:prstGeom>
          <a:solidFill>
            <a:srgbClr val="C9A24C"/>
          </a:solidFill>
          <a:ln w="12700">
            <a:solidFill>
              <a:srgbClr val="C9A24C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3172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31520" y="2697480"/>
            <a:ext cx="32918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$250B+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731520" y="397764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SME operational software spend by 2027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49377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Gartner Enterprise Software Forecast 2024; IDC Worldwide SMB Spending Guide 2024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370832" y="2194560"/>
            <a:ext cx="3657600" cy="338328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4370832" y="2194560"/>
            <a:ext cx="3657600" cy="54864"/>
          </a:xfrm>
          <a:prstGeom prst="rect">
            <a:avLst/>
          </a:prstGeom>
          <a:solidFill>
            <a:srgbClr val="C9A24C"/>
          </a:solidFill>
          <a:ln w="12700">
            <a:solidFill>
              <a:srgbClr val="C9A24C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645152" y="233172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645152" y="2697480"/>
            <a:ext cx="32918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$18–24B</a:t>
            </a:r>
            <a:endParaRPr lang="en-US" sz="4400" dirty="0"/>
          </a:p>
        </p:txBody>
      </p:sp>
      <p:sp>
        <p:nvSpPr>
          <p:cNvPr id="14" name="Text 12"/>
          <p:cNvSpPr/>
          <p:nvPr/>
        </p:nvSpPr>
        <p:spPr>
          <a:xfrm>
            <a:off x="4645152" y="397764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SSA + adjacent EM SME software, ~50M formal SMEs by 2030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645152" y="49377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IFC MSME Finance Report 2023; Endeavor 2023; Partech Africa 2024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8284464" y="2194560"/>
            <a:ext cx="3657600" cy="338328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8284464" y="2194560"/>
            <a:ext cx="3657600" cy="54864"/>
          </a:xfrm>
          <a:prstGeom prst="rect">
            <a:avLst/>
          </a:prstGeom>
          <a:solidFill>
            <a:srgbClr val="C9A24C"/>
          </a:solidFill>
          <a:ln w="12700">
            <a:solidFill>
              <a:srgbClr val="C9A24C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8558784" y="233172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 (Yr 5)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558784" y="2697480"/>
            <a:ext cx="32918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$90–120M</a:t>
            </a:r>
            <a:endParaRPr lang="en-US" sz="4400" dirty="0"/>
          </a:p>
        </p:txBody>
      </p:sp>
      <p:sp>
        <p:nvSpPr>
          <p:cNvPr id="20" name="Text 18"/>
          <p:cNvSpPr/>
          <p:nvPr/>
        </p:nvSpPr>
        <p:spPr>
          <a:xfrm>
            <a:off x="8558784" y="397764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0.5% share of SAM — 15–25K paying organizations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558784" y="49377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assumption based on comparable SaaS penetration curves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 presented as a strategic assumption, not a forecast. Ranges reflect uncertainty in formalization rates and FX exposure.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9525">
            <a:solidFill>
              <a:srgbClr val="2A3562"/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OFFICE  /  CONFIDENTIAL INVESTOR MATERIALS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9905695" y="65105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 / 22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5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COMPETITION &amp; WHITE SPACE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upper-right quadrant is empty. That is where Global Office lives.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1828800" y="2194560"/>
            <a:ext cx="8229600" cy="365760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943600" y="2194560"/>
            <a:ext cx="0" cy="3657600"/>
          </a:xfrm>
          <a:prstGeom prst="line">
            <a:avLst/>
          </a:prstGeom>
          <a:noFill/>
          <a:ln w="6350">
            <a:solidFill>
              <a:srgbClr val="2A3562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828800" y="4023360"/>
            <a:ext cx="8229600" cy="0"/>
          </a:xfrm>
          <a:prstGeom prst="line">
            <a:avLst/>
          </a:prstGeom>
          <a:noFill/>
          <a:ln w="6350">
            <a:solidFill>
              <a:srgbClr val="2A3562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 rot="16200000">
            <a:off x="365760" y="384048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Intelligence depth →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828800" y="59436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 breadth →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194560" y="2560320"/>
            <a:ext cx="201168" cy="201168"/>
          </a:xfrm>
          <a:prstGeom prst="ellipse">
            <a:avLst/>
          </a:prstGeom>
          <a:solidFill>
            <a:srgbClr val="8892B0"/>
          </a:solidFill>
          <a:ln w="12700">
            <a:solidFill>
              <a:srgbClr val="8892B0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2468880" y="2532888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Notion / ClickUp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926080" y="3200400"/>
            <a:ext cx="201168" cy="201168"/>
          </a:xfrm>
          <a:prstGeom prst="ellipse">
            <a:avLst/>
          </a:prstGeom>
          <a:solidFill>
            <a:srgbClr val="8892B0"/>
          </a:solidFill>
          <a:ln w="12700">
            <a:solidFill>
              <a:srgbClr val="8892B0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3200400" y="3172968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Monday.com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400800" y="2743200"/>
            <a:ext cx="201168" cy="201168"/>
          </a:xfrm>
          <a:prstGeom prst="ellipse">
            <a:avLst/>
          </a:prstGeom>
          <a:solidFill>
            <a:srgbClr val="8892B0"/>
          </a:solidFill>
          <a:ln w="12700">
            <a:solidFill>
              <a:srgbClr val="8892B0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675120" y="2715768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Workspace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8229600" y="3291840"/>
            <a:ext cx="201168" cy="201168"/>
          </a:xfrm>
          <a:prstGeom prst="ellipse">
            <a:avLst/>
          </a:prstGeom>
          <a:solidFill>
            <a:srgbClr val="8892B0"/>
          </a:solidFill>
          <a:ln w="12700">
            <a:solidFill>
              <a:srgbClr val="8892B0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503920" y="3264408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365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858000" y="4480560"/>
            <a:ext cx="201168" cy="201168"/>
          </a:xfrm>
          <a:prstGeom prst="ellipse">
            <a:avLst/>
          </a:prstGeom>
          <a:solidFill>
            <a:srgbClr val="8892B0"/>
          </a:solidFill>
          <a:ln w="12700">
            <a:solidFill>
              <a:srgbClr val="8892B0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7132320" y="4453128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Zoho One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8503920" y="5394960"/>
            <a:ext cx="201168" cy="201168"/>
          </a:xfrm>
          <a:prstGeom prst="ellipse">
            <a:avLst/>
          </a:prstGeom>
          <a:solidFill>
            <a:srgbClr val="8892B0"/>
          </a:solidFill>
          <a:ln w="12700">
            <a:solidFill>
              <a:srgbClr val="8892B0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8778240" y="5367528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NetSuite / SAP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8503920" y="2651760"/>
            <a:ext cx="320040" cy="320040"/>
          </a:xfrm>
          <a:prstGeom prst="ellipse">
            <a:avLst/>
          </a:prstGeom>
          <a:solidFill>
            <a:srgbClr val="C9A24C"/>
          </a:solidFill>
          <a:ln w="12700">
            <a:solidFill>
              <a:srgbClr val="C9A24C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8915400" y="2633472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2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Global Office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8915400" y="292608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White space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9525">
            <a:solidFill>
              <a:srgbClr val="2A3562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OFFICE  /  CONFIDENTIAL INVESTOR MATERIALS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9905695" y="65105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 / 22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5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MODEL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Per-organization SaaS, local-currency pricing, metered AI credits.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457200" y="2194560"/>
            <a:ext cx="3657600" cy="310896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237744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STARTER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31520" y="278892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Up to 20 users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731520" y="338328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operational modules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31520" y="461772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Entry price ≈ local equivalent of $49/org/mo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370832" y="2194560"/>
            <a:ext cx="3657600" cy="310896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4645152" y="237744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645152" y="278892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Up to 100 users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4645152" y="338328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modules + AI insights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645152" y="461772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Entry price ≈ local equivalent of $299/org/mo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284464" y="2194560"/>
            <a:ext cx="3657600" cy="310896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8558784" y="237744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558784" y="278892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100–500 users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8558784" y="338328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platform + workflow automation + priority support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558784" y="461772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Entry price ≈ local equivalent of $999/org/mo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57200" y="553212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Add-ons: AI credits (metered) · Enterprise Edition · Partner channel revenue-share · Verticalized editions from Year 3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margin target 84–88% consistent with vertical SaaS benchmarks (Meritech Public Comps 2024). All figures are strategic assumptions pending pilot data.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9525">
            <a:solidFill>
              <a:srgbClr val="2A3562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OFFICE  /  CONFIDENTIAL INVESTOR MATERIALS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9905695" y="65105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/ 22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5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GO-TO-MARKET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Wedge first. Then adjacent segments. Then verticals.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YEAR 1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828800" y="22860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WEDGE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4206240" y="2331720"/>
            <a:ext cx="74980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SMEs 20–200 employees in 5 anchor cities: Lagos, Nairobi, Accra, Cairo, Johannesburg. Founder-led sales + product-led onboarding.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3383280"/>
            <a:ext cx="11247120" cy="0"/>
          </a:xfrm>
          <a:prstGeom prst="line">
            <a:avLst/>
          </a:prstGeom>
          <a:noFill/>
          <a:ln w="5080">
            <a:solidFill>
              <a:srgbClr val="2A3562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57200" y="352044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YEAR 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828800" y="352044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EXPAND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4206240" y="3566160"/>
            <a:ext cx="74980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Mid-market (200–1,000). Partner channels: accounting firms, HR consultancies, business associations. Country coverage doubles.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4617720"/>
            <a:ext cx="11247120" cy="0"/>
          </a:xfrm>
          <a:prstGeom prst="line">
            <a:avLst/>
          </a:prstGeom>
          <a:noFill/>
          <a:ln w="5080">
            <a:solidFill>
              <a:srgbClr val="2A3562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57200" y="475488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YEAR 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828800" y="47548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VERTICALIZE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4206240" y="4800600"/>
            <a:ext cx="74980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 editions: Education, Healthcare, Hospitality, Professional Services. Government pilots. Enterprise Edition GA.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" y="5852160"/>
            <a:ext cx="11247120" cy="0"/>
          </a:xfrm>
          <a:prstGeom prst="line">
            <a:avLst/>
          </a:prstGeom>
          <a:noFill/>
          <a:ln w="5080">
            <a:solidFill>
              <a:srgbClr val="2A3562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9525">
            <a:solidFill>
              <a:srgbClr val="2A3562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OFFICE  /  CONFIDENTIAL INVESTOR MATERIALS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9905695" y="65105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 / 22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5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&amp; SIGNALS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Pre-seed. Pre-launch. Platform-ready. We state this plainly.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457200" y="21945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HAVE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309360" y="21945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DO NOT — YET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2606040"/>
            <a:ext cx="548640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multi-tenant platform shipped across 15+ modules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intelligence layer live (insights, anomaly detection)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Founder–market fit: builder is a Nigerian SME operator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thesis validated with 40+ SME operator conversations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partner pipeline in Lagos, Nairobi, Accra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309360" y="2606040"/>
            <a:ext cx="548640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□"/>
            </a:pPr>
            <a:r>
              <a:rPr lang="en-US" sz="13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ARR — not yet; first pilots planned post-round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□"/>
            </a:pPr>
            <a:r>
              <a:rPr lang="en-US" sz="13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Retention cohorts — cannot be reported before pilots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□"/>
            </a:pPr>
            <a:r>
              <a:rPr lang="en-US" sz="13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LOIs at scale — pipeline, not commitments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□"/>
            </a:pPr>
            <a:r>
              <a:rPr lang="en-US" sz="13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references — planned Year 2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 posture reference: Endeavor/DFI pre-seed pattern — evidence of product readiness and market insight, not fabricated traction.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9525">
            <a:solidFill>
              <a:srgbClr val="2A3562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OFFICE  /  CONFIDENTIAL INVESTOR MATERIALS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9905695" y="65105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 / 22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5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DEFENSIBILITY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Four moats that compound over time.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457200" y="2194560"/>
            <a:ext cx="5394960" cy="169164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237744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651760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Intelligence flywheel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731520" y="3108960"/>
            <a:ext cx="49377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org strengthens the AI layer for every other org (patterns, anomalies, benchmarks) — anonymized and consented.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172200" y="2194560"/>
            <a:ext cx="5394960" cy="169164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446520" y="237744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446520" y="2651760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Operational lock-in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46520" y="3108960"/>
            <a:ext cx="49377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OS is where the work happens — attendance, tasks, approvals, payroll. Switching cost grows linearly with adoption.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4069080"/>
            <a:ext cx="5394960" cy="169164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731520" y="425196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DISTRIBUTION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31520" y="4526280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Local partner channel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731520" y="4983480"/>
            <a:ext cx="49377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Accounting firms, HR consultancies, business associations. A network global incumbents cannot economically replicate.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172200" y="4069080"/>
            <a:ext cx="5394960" cy="169164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446520" y="425196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446520" y="4526280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Regulatory capital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6446520" y="4983480"/>
            <a:ext cx="49377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NDPR/GDPR-ready, MFA, audit trail, encryption. Table-stakes for HR/finance/health — a barrier to latecomers.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9525">
            <a:solidFill>
              <a:srgbClr val="2A3562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OFFICE  /  CONFIDENTIAL INVESTOR MATERIALS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9905695" y="65105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 / 22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5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FRAMEWORK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Ranges, not fiction. Every assumption will be re-baselined against pilot data.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457200" y="2194560"/>
            <a:ext cx="2743200" cy="146304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40080" y="233172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Blended ARPO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40080" y="265176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$2.4–4.2K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640080" y="324612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organization per year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83280" y="2194560"/>
            <a:ext cx="2743200" cy="146304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566160" y="233172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Margin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566160" y="265176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84–88%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3566160" y="324612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vertical SaaS benchmark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309360" y="2194560"/>
            <a:ext cx="2743200" cy="146304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492240" y="233172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 Payback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492240" y="265176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6–9 mo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6492240" y="324612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Growth-tier assumption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9235440" y="2194560"/>
            <a:ext cx="2743200" cy="146304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9418320" y="233172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Revenue Retention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9418320" y="265176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108–120%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9418320" y="324612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once Scale tier lands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5 SCENARIO ARR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4343400"/>
            <a:ext cx="3657600" cy="118872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685800" y="44348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Conservative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85800" y="475488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$18M ARR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685800" y="521208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~5,000 orgs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370832" y="4343400"/>
            <a:ext cx="3657600" cy="118872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4599432" y="44348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599432" y="475488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$42M ARR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4599432" y="521208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~12,000 orgs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8284464" y="4343400"/>
            <a:ext cx="3657600" cy="118872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8513064" y="44348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Upside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8513064" y="475488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$95M ARR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8513064" y="521208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~24,000 orgs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figures are strategic assumptions. Detailed 3-year model with sensitivity delivered separately (XLSX, Phase 3).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9525">
            <a:solidFill>
              <a:srgbClr val="2A3562"/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OFFICE  /  CONFIDENTIAL INVESTOR MATERIALS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9905695" y="65105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 / 22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33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45720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ECONOMICS &amp; CAPITAL EFFICIENCY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Software margins, metered AI cost, and capital that buys evidence.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457200" y="2194560"/>
            <a:ext cx="2743200" cy="146304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40080" y="233172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Margin at Scale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40080" y="265176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84–88%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640080" y="324612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76–81% in year one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83280" y="2194560"/>
            <a:ext cx="2743200" cy="146304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566160" y="233172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to Serve / Org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566160" y="265176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$34–58 mo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3566160" y="324612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trending to $18–26 by year three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309360" y="2194560"/>
            <a:ext cx="2743200" cy="146304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492240" y="233172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 Payback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492240" y="265176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6–9 mo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6492240" y="324612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&lt;10 mo as channel matures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9235440" y="2194560"/>
            <a:ext cx="2743200" cy="146304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9418320" y="233172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LTV : CAC (Year 3)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9418320" y="265176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≥ 5x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9418320" y="324612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NRR 115–135% on expansion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$1.5M CONVERTS INTO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4343400"/>
            <a:ext cx="3657600" cy="118872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685800" y="44348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&amp; Infrastructure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85800" y="475488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42%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685800" y="521208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Enterprise-ready platform, capacity to scale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370832" y="4343400"/>
            <a:ext cx="3657600" cy="118872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4599432" y="44348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Go-to-Market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599432" y="475488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35%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4599432" y="521208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paying cohort, measured CAC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8284464" y="4343400"/>
            <a:ext cx="3657600" cy="118872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8513064" y="44348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Sales, Success &amp; AI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8513064" y="475488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23%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8513064" y="521208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Repeatable engine, higher customer value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platform is already built. This round funds commercialization, so incremental revenue lands on a largely fixed cost base. Full derivation in the Capital Efficiency &amp; Unit Economics Memo.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9525">
            <a:solidFill>
              <a:srgbClr val="2A3562"/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OFFICE  /  CONFIDENTIAL INVESTOR MATERIALS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9905695" y="65105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 / 23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5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Founder–market fit is the strongest signal at this stage.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457200" y="2194560"/>
            <a:ext cx="11247120" cy="219456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457200" y="2194560"/>
            <a:ext cx="73152" cy="2194560"/>
          </a:xfrm>
          <a:prstGeom prst="rect">
            <a:avLst/>
          </a:prstGeom>
          <a:solidFill>
            <a:srgbClr val="C9A24C"/>
          </a:solidFill>
          <a:ln w="12700">
            <a:solidFill>
              <a:srgbClr val="C9A24C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77240" y="23774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WISDOM JONATHANS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77240" y="27432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Founder &amp; CEO — Soteria AI Technologies Inc.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777240" y="3246120"/>
            <a:ext cx="107899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Nigerian entrepreneur, AI systems strategist, and technology founder. Builds intelligent platforms for large-scale operational and societal challenges. Founder &amp; CEO of Soteria AI Technologies Inc., leading AI-powered products for business operations, decision-making, and workflow orchestration in emerging markets.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45720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POST-ROUND KEY HIRES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4937760"/>
            <a:ext cx="3657600" cy="77724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85800" y="502920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VP Engineering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85800" y="5367528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Lagos or Nairobi hub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370832" y="4937760"/>
            <a:ext cx="3657600" cy="77724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4599432" y="502920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Head of Growth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599432" y="5367528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Founder-led sales handoff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284464" y="4937760"/>
            <a:ext cx="3657600" cy="77724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8513064" y="502920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Design Partner Lead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513064" y="5367528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conversion &amp; CS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9525">
            <a:solidFill>
              <a:srgbClr val="2A3562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OFFICE  /  CONFIDENTIAL INVESTOR MATERIALS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9905695" y="65105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 / 22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15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73152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$1.5M</a:t>
            </a:r>
            <a:endParaRPr lang="en-US" sz="14000" dirty="0"/>
          </a:p>
        </p:txBody>
      </p:sp>
      <p:sp>
        <p:nvSpPr>
          <p:cNvPr id="4" name="Text 2"/>
          <p:cNvSpPr/>
          <p:nvPr/>
        </p:nvSpPr>
        <p:spPr>
          <a:xfrm>
            <a:off x="457200" y="288036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C9A2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pre-seed, SAFE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858000" y="118872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OF FUNDS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858000" y="160020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C9A2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55%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7955280" y="164592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Engineering &amp; Product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955280" y="201168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Deepen AI layer; ship 2 vertical editions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858000" y="256032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C9A2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25%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7955280" y="260604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Go-to-Market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955280" y="297180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30–50 design partner pilots, 5 anchor cities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858000" y="352044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C9A2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12%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7955280" y="356616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Compliance &amp; Security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7955280" y="393192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 2 Type I readiness; NDPR/GDPR certification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858000" y="448056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C9A2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8%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7955280" y="452628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G&amp;A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7955280" y="489204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Legal, finance, ops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9525">
            <a:solidFill>
              <a:srgbClr val="2A3562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OFFICE  /  CONFIDENTIAL INVESTOR MATERIALS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9905695" y="65105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 / 22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15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MILESTONES — WHAT THE ROUND BUYS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Falsifiable milestones. Each one unlocks the next round.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457200" y="2423160"/>
            <a:ext cx="274320" cy="274320"/>
          </a:xfrm>
          <a:prstGeom prst="ellipse">
            <a:avLst/>
          </a:prstGeom>
          <a:solidFill>
            <a:srgbClr val="C9A24C"/>
          </a:solidFill>
          <a:ln w="12700">
            <a:solidFill>
              <a:srgbClr val="C9A24C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94360" y="2697480"/>
            <a:ext cx="0" cy="548640"/>
          </a:xfrm>
          <a:prstGeom prst="line">
            <a:avLst/>
          </a:prstGeom>
          <a:noFill/>
          <a:ln w="12700">
            <a:solidFill>
              <a:srgbClr val="2A3562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28600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MONTH 6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108960" y="2331720"/>
            <a:ext cx="8686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signed design partners across 3 anchor cities · First paid conversions · Baseline retention data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383280"/>
            <a:ext cx="274320" cy="274320"/>
          </a:xfrm>
          <a:prstGeom prst="ellipse">
            <a:avLst/>
          </a:prstGeom>
          <a:solidFill>
            <a:srgbClr val="C9A24C"/>
          </a:solidFill>
          <a:ln w="12700">
            <a:solidFill>
              <a:srgbClr val="C9A24C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594360" y="3657600"/>
            <a:ext cx="0" cy="548640"/>
          </a:xfrm>
          <a:prstGeom prst="line">
            <a:avLst/>
          </a:prstGeom>
          <a:noFill/>
          <a:ln w="12700">
            <a:solidFill>
              <a:srgbClr val="2A3562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005840" y="324612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MONTH 12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108960" y="3291840"/>
            <a:ext cx="8686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$500K–$1M ARR · First cohort retention curves · 2 vertical editions shipped · Partner channel v1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4343400"/>
            <a:ext cx="274320" cy="274320"/>
          </a:xfrm>
          <a:prstGeom prst="ellipse">
            <a:avLst/>
          </a:prstGeom>
          <a:solidFill>
            <a:srgbClr val="C9A24C"/>
          </a:solidFill>
          <a:ln w="12700">
            <a:solidFill>
              <a:srgbClr val="C9A24C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594360" y="4617720"/>
            <a:ext cx="0" cy="548640"/>
          </a:xfrm>
          <a:prstGeom prst="line">
            <a:avLst/>
          </a:prstGeom>
          <a:noFill/>
          <a:ln w="12700">
            <a:solidFill>
              <a:srgbClr val="2A3562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1005840" y="420624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MONTH 18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108960" y="4251960"/>
            <a:ext cx="8686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$2M+ ARR · NRR &gt;115% · First enterprise reference customer · SOC 2 Type I complete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5303520"/>
            <a:ext cx="274320" cy="274320"/>
          </a:xfrm>
          <a:prstGeom prst="ellipse">
            <a:avLst/>
          </a:prstGeom>
          <a:solidFill>
            <a:srgbClr val="C9A24C"/>
          </a:solidFill>
          <a:ln w="12700">
            <a:solidFill>
              <a:srgbClr val="C9A24C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1005840" y="516636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MONTH 24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108960" y="5212080"/>
            <a:ext cx="8686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Series A raise: $6–10M · Expansion into 5 additional markets · Enterprise Edition GA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9525">
            <a:solidFill>
              <a:srgbClr val="2A3562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OFFICE  /  CONFIDENTIAL INVESTOR MATERIALS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9905695" y="65105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 / 22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15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RISKS &amp; MITIGATIONS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could kill the company — and how we respond.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457200" y="219456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651760" y="2194560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DESCRIPTION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858000" y="219456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MITIGATION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57200" y="2560320"/>
            <a:ext cx="11247120" cy="0"/>
          </a:xfrm>
          <a:prstGeom prst="line">
            <a:avLst/>
          </a:prstGeom>
          <a:noFill/>
          <a:ln w="9525">
            <a:solidFill>
              <a:srgbClr val="2A3562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57200" y="2743200"/>
            <a:ext cx="2103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Market timing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2651760" y="2743200"/>
            <a:ext cx="4023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 cloud adoption slows or FX crisis compresses budgets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858000" y="2743200"/>
            <a:ext cx="4846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Local-currency pricing, offline-tolerant architecture, tier-flexible plans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3520440"/>
            <a:ext cx="11247120" cy="0"/>
          </a:xfrm>
          <a:prstGeom prst="line">
            <a:avLst/>
          </a:prstGeom>
          <a:noFill/>
          <a:ln w="3810">
            <a:solidFill>
              <a:srgbClr val="2A3562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57200" y="3566160"/>
            <a:ext cx="2103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Competitive response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2651760" y="3566160"/>
            <a:ext cx="4023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Zoho / Odoo / Microsoft build an African edition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858000" y="3566160"/>
            <a:ext cx="4846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 to distribution + partner lock-in + AI-native architecture, not features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4343400"/>
            <a:ext cx="11247120" cy="0"/>
          </a:xfrm>
          <a:prstGeom prst="line">
            <a:avLst/>
          </a:prstGeom>
          <a:noFill/>
          <a:ln w="3810">
            <a:solidFill>
              <a:srgbClr val="2A3562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457200" y="4389120"/>
            <a:ext cx="2103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Execution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2651760" y="4389120"/>
            <a:ext cx="4023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Founder-led sales does not scale past 100 orgs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858000" y="4389120"/>
            <a:ext cx="4846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 Head of Growth hire at $500K ARR; partner channel from Month 9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5166360"/>
            <a:ext cx="11247120" cy="0"/>
          </a:xfrm>
          <a:prstGeom prst="line">
            <a:avLst/>
          </a:prstGeom>
          <a:noFill/>
          <a:ln w="3810">
            <a:solidFill>
              <a:srgbClr val="2A3562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457200" y="5212080"/>
            <a:ext cx="2103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Macro / FX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2651760" y="5212080"/>
            <a:ext cx="4023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infra volatility across markets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858000" y="5212080"/>
            <a:ext cx="4846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Multi-PSP integration, USD backup rails, treasury discipline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57200" y="5989320"/>
            <a:ext cx="11247120" cy="0"/>
          </a:xfrm>
          <a:prstGeom prst="line">
            <a:avLst/>
          </a:prstGeom>
          <a:noFill/>
          <a:ln w="3810">
            <a:solidFill>
              <a:srgbClr val="2A3562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9525">
            <a:solidFill>
              <a:srgbClr val="2A3562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OFFICE  /  CONFIDENTIAL INVESTOR MATERIALS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9905695" y="65105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 / 22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15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 LANDSCAPE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Real optionality: strategic, financial, or public.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2926080" y="2286000"/>
            <a:ext cx="8778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Microsoft · Google · SAP · Zoho · Freshworks · Salesforce · Oracle · HubSpot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2926080" y="2670048"/>
            <a:ext cx="8778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EM SaaS acquirers seeking distribution and product depth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3383280"/>
            <a:ext cx="11247120" cy="0"/>
          </a:xfrm>
          <a:prstGeom prst="line">
            <a:avLst/>
          </a:prstGeom>
          <a:noFill/>
          <a:ln w="3810">
            <a:solidFill>
              <a:srgbClr val="2A3562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57200" y="347472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REGIONAL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926080" y="3474720"/>
            <a:ext cx="8778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MTN · Safaricom · Access · Naspers · Helios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2926080" y="3858768"/>
            <a:ext cx="8778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Telcos and holding groups building enterprise-services portfolios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4572000"/>
            <a:ext cx="11247120" cy="0"/>
          </a:xfrm>
          <a:prstGeom prst="line">
            <a:avLst/>
          </a:prstGeom>
          <a:noFill/>
          <a:ln w="3810">
            <a:solidFill>
              <a:srgbClr val="2A3562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57200" y="466344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/ DFI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926080" y="4663440"/>
            <a:ext cx="8778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Local exchanges (NGX, JSE) · Cross-listing precedents · DFI secondary sales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2926080" y="5047488"/>
            <a:ext cx="8778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Precedents include Interswitch, Jumia, and growing DFI-backed liquidity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5760720"/>
            <a:ext cx="11247120" cy="0"/>
          </a:xfrm>
          <a:prstGeom prst="line">
            <a:avLst/>
          </a:prstGeom>
          <a:noFill/>
          <a:ln w="3810">
            <a:solidFill>
              <a:srgbClr val="2A3562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CB Insights EM SaaS M&amp;A tracker 2024; Partech Africa Exit Report 2023.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9525">
            <a:solidFill>
              <a:srgbClr val="2A3562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OFFICE  /  CONFIDENTIAL INVESTOR MATERIALS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9905695" y="65105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 / 22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B15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&amp; COMPLIANCE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Institutional-grade governance from day one.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2926080" y="2304288"/>
            <a:ext cx="8778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Soteria AI Technologies Inc. — Delaware C-Corporation · Clean single-entity cap table · IP held by the parent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2880360"/>
            <a:ext cx="11247120" cy="0"/>
          </a:xfrm>
          <a:prstGeom prst="line">
            <a:avLst/>
          </a:prstGeom>
          <a:noFill/>
          <a:ln w="3810">
            <a:solidFill>
              <a:srgbClr val="2A3562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457200" y="29718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926080" y="2990088"/>
            <a:ext cx="8778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owned by the company · No open-source license contamination · All contributor agreements in place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3566160"/>
            <a:ext cx="11247120" cy="0"/>
          </a:xfrm>
          <a:prstGeom prst="line">
            <a:avLst/>
          </a:prstGeom>
          <a:noFill/>
          <a:ln w="3810">
            <a:solidFill>
              <a:srgbClr val="2A3562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457200" y="36576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926080" y="3675888"/>
            <a:ext cx="8778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NDPR/GDPR-ready architecture · Regional data residency options · Full audit trail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4251960"/>
            <a:ext cx="11247120" cy="0"/>
          </a:xfrm>
          <a:prstGeom prst="line">
            <a:avLst/>
          </a:prstGeom>
          <a:noFill/>
          <a:ln w="3810">
            <a:solidFill>
              <a:srgbClr val="2A3562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457200" y="43434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926080" y="4361688"/>
            <a:ext cx="8778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MFA · Role-based access · Row-level tenant isolation · SOC 2 Type I on roadmap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" y="4937760"/>
            <a:ext cx="11247120" cy="0"/>
          </a:xfrm>
          <a:prstGeom prst="line">
            <a:avLst/>
          </a:prstGeom>
          <a:noFill/>
          <a:ln w="3810">
            <a:solidFill>
              <a:srgbClr val="2A3562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457200" y="50292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926080" y="5047488"/>
            <a:ext cx="8778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close discipline from Month 1 · Independent auditor engaged pre-Series A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57200" y="5623560"/>
            <a:ext cx="11247120" cy="0"/>
          </a:xfrm>
          <a:prstGeom prst="line">
            <a:avLst/>
          </a:prstGeom>
          <a:noFill/>
          <a:ln w="3810">
            <a:solidFill>
              <a:srgbClr val="2A3562"/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9525">
            <a:solidFill>
              <a:srgbClr val="2A3562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OFFICE  /  CONFIDENTIAL INVESTOR MATERIALS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9905695" y="65105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 / 22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B15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109728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44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 ten years, Global Office is the default operating layer for every serious enterprise in the emerging world.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640080" y="5486400"/>
            <a:ext cx="1097280" cy="36576"/>
          </a:xfrm>
          <a:prstGeom prst="rect">
            <a:avLst/>
          </a:prstGeom>
          <a:solidFill>
            <a:srgbClr val="C9A24C"/>
          </a:solidFill>
          <a:ln w="12700">
            <a:solidFill>
              <a:srgbClr val="C9A24C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40080" y="562356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9A2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Category-defining companies emerge once per generation. This is one of them.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9525">
            <a:solidFill>
              <a:srgbClr val="2A3562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OFFICE  /  CONFIDENTIAL INVESTOR MATERIALS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905695" y="65105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 / 22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B15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36576" cy="5943600"/>
          </a:xfrm>
          <a:prstGeom prst="rect">
            <a:avLst/>
          </a:prstGeom>
          <a:solidFill>
            <a:srgbClr val="C9A24C"/>
          </a:solidFill>
          <a:ln w="12700">
            <a:solidFill>
              <a:srgbClr val="C9A24C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822960" y="54864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 US TALK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22960" y="128016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Global Office</a:t>
            </a:r>
            <a:endParaRPr lang="en-US" sz="6800" dirty="0"/>
          </a:p>
        </p:txBody>
      </p:sp>
      <p:sp>
        <p:nvSpPr>
          <p:cNvPr id="5" name="Text 3"/>
          <p:cNvSpPr/>
          <p:nvPr/>
        </p:nvSpPr>
        <p:spPr>
          <a:xfrm>
            <a:off x="822960" y="2560320"/>
            <a:ext cx="10058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400" i="1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Building the AI-native operating layer</a:t>
            </a:r>
            <a:endParaRPr lang="en-US" sz="2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2400" i="1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 emerging-market enterprises.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822960" y="4206240"/>
            <a:ext cx="2743200" cy="0"/>
          </a:xfrm>
          <a:prstGeom prst="line">
            <a:avLst/>
          </a:prstGeom>
          <a:noFill/>
          <a:ln w="12700">
            <a:solidFill>
              <a:srgbClr val="C9A24C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822960" y="438912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Wisdom Jonathans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822960" y="48463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 &amp; CEO — Soteria AI Technologies Inc.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22960" y="5394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22960" y="56692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45-minute product walkthrough  ·  Data room access  ·  Design partner reference calls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22960" y="61722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— 2026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Soteria AI Technologies Inc. (a Delaware C-Corporation)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Global Office — Investor Deck</dc:title>
  <dc:subject>Pre-Seed Investment Opportunity</dc:subject>
  <dc:creator>Wisdom Jonathans</dc:creator>
  <cp:lastModifiedBy>Wisdom Jonathans</cp:lastModifiedBy>
  <cp:revision>1</cp:revision>
  <dcterms:created xsi:type="dcterms:W3CDTF">2026-07-11T01:13:08Z</dcterms:created>
  <dcterms:modified xsi:type="dcterms:W3CDTF">2026-07-11T01:13:08Z</dcterms:modified>
</cp:coreProperties>
</file>