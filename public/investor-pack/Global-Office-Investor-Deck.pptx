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5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slide" Target="slides/slide20.xml"/><Relationship Id="rId15" Type="http://schemas.openxmlformats.org/officeDocument/2006/relationships/slide" Target="slides/slide21.xml"/><Relationship Id="rId16" Type="http://schemas.openxmlformats.org/officeDocument/2006/relationships/slide" Target="slides/slide22.xml"/><Relationship Id="rId17" Type="http://schemas.openxmlformats.org/officeDocument/2006/relationships/slide" Target="slides/slide23.xml"/><Relationship Id="rId18" Type="http://schemas.openxmlformats.org/officeDocument/2006/relationships/slide" Target="slides/slide24.xml"/><Relationship Id="rId19" Type="http://schemas.openxmlformats.org/officeDocument/2006/relationships/slide" Target="slides/slide25.xml"/><Relationship Id="rId20" Type="http://schemas.openxmlformats.org/officeDocument/2006/relationships/slide" Target="slides/slide26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2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yourself: Wisdom Jonathans, Founder &amp; CEO of Soteria AI Technologies. We're building Global Office — the operating system for the next generation of businesses in emerging markets. This deck is a pre-seed investment opportunity for a $1.5M round. Set the tone: institutional, evidence-based, ambitious. Pause 3 seconds after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one-sentence thesis. Read slowly. Small and mid-sized enterprises are the economic backbone of emerging markets, yet they operate on fragmented, imported software that was never designed for them. Global Office consolidates the entire operational stack — attendance, execution, communication, HR, finance, intelligence — into one AI-native platform, priced and engineered for how these businesses actually run. Emphasize the words "AI-native" and "one platform."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concurrent shifts create the window. (1) Africa's digital economy is projected at $712B by 2050 — GSMA, Endeavor. (2) Generative AI has collapsed the cost of building enterprise workflows by an order of magnitude — Stanford AI Index 2024. (3) SME cloud adoption in SSA grew ~34% CAGR 2020–2024 — IFC, Partech Africa. The result: for the first time, it is economically viable to build one AI-native platform for this market. Windows like this open once per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"SMEs need software." SMEs already use 8–12 tools. The problem is fragmentation. Every emerging-market SME runs on a Frankenstein stack of WhatsApp, Excel, Google Sheets, a locally-hosted HR tool, a foreign accounting tool priced in USD, and paper. Nothing talks to each other. Owners spend 40%+ of their week reconciling data across tools instead of running the business. This is not a UX problem; it is a structural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Office is one platform, one login, one data model, spanning attendance, execution, communication, HR, finance, and intelligence. It is AI-native — meaning intelligence is not a feature bolted on; it is the substrate. The system observes work, learns patterns, and surfaces decisions. Think of it as the operating system for a mid-market business, priced and localized for the markets it 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defining a new category: the AI-Native Business Operating System, or AI-BOS. This is different from a CRM (Salesforce), an ERP (SAP/NetSuite), or a work OS (Monday, ClickUp). Those are horizontal tools with AI features. AI-BOS is a vertical, unified system where AI is the substrate — it observes, interprets, and orchestrates work across every function. Categories are how enterprise software wins: Salesforce created CRM, ServiceNow created ITSM. We are creating AI-BOS.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Global Office is a multi-tenant platform with strict organizational isolation, a unified event bus, and an intelligence layer that sits above all modules. Every action becomes an event; every event feeds the AI layer, which produces insights, alerts, and recommendations back into the modules. This is what makes AI-native different from AI-added.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sizing, bottom-up. TAM: global SME software spend is $250B+ by 2027 per Gartner and IDC. SAM: Sub-Saharan African + adjacent emerging market SME software is estimated at $18–24B by 2030, based on ~50M formal SMEs and per-org spend benchmarks (IFC, Endeavor, Partech). SOM: capturing 0.5% of SAM in 5 years is $90–120M ARR — a credible, evidence-based path. These are ranges, not point estimates, because we refuse to fabricate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landscape mapped on two axes: horizontal breadth versus intelligence depth. Microsoft 365, Google Workspace — broad but shallow, priced for OECD. NetSuite, SAP — deep but ERP-heavy, IT-led, 12+ month deploys. Monday, ClickUp, Notion — horizontal work OS, AI features bolted on. Zoho — broad but fragmented UX, weak AI. The white space is upper-right: unified breadth plus AI-native intelligence, engineered for emerging-market SMEs. That is Global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 is per-organization SaaS with three tiers: Starter, Growth, Scale, priced in local currency to remove FX friction. AI credits meter compute-intensive features so cost scales with value. Expected gross margins in the 75–82% range consistent with vertical SaaS benchmarks — this is a range, not a claim. Enterprise editions and partner channels unlock the upper end of the market from year three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sequenced. Wedge: 20–200 person SMEs in Lagos, Nairobi, Accra, Cairo, Johannesburg. Motion: founder-led sales + product-led onboarding + partner channels (business associations, accounting firms, HR consultancies). Year 2 opens mid-market. Year 3 opens enterprise editions and vertical channels (education, healthcare, hospitality,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posture. We are pre-seed, pre-launch. What we have: (1) full working platform architected and shipped — not a prototype; (2) founder–market fit — I am building for the market I come from; (3) design partner conversations underway. What we do not have and will not fabricate: paid ARR, retention cohorts, LOIs at scale. The purpose of this round is to convert product-readiness into signed pilots and retention data in the next 9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compounding moats. (1) Data flywheel: every organization's activity feeds an intelligence layer that becomes more useful the more orgs are on it. (2) Workflow lock-in: unlike a point tool, an OS is where the work lives. (3) Local distribution: partner channels that global incumbents cannot replicate cheaply. (4) Compliance capital: NDPR/GDPR-ready architecture is a barrier for latecomers in regulated segments like HR, finance,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framework, not fabricated forecast. Ranges are strategic assumptions to be validated in pilots. Blended ARPO $2.4K–$4.2K/yr. Gross margin 75–82%. CAC payback 10–14 months at Growth tier. Year 5 modeled scenarios: conservative $18M ARR, base $42M, upside $95M. All numbers will be re-baselined against pilot data before Series A. We show the math, not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Founder–market fit is the single strongest signal at pre-seed. I am Wisdom Jonathans, Nigerian entrepreneur, AI systems strategist, technology founder. I have built AI-powered products across business operations. I am building Global Office because I lived the pain — running organizations in this market with tools built for another one. Key hires post-round: VP Engineering (Lagos/Nairobi), Head of Growth, Design Partner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raising $1.5M pre-seed on a SAFE. Use of funds: 55% engineering and product to deepen the AI layer and ship two verticals; 25% go-to-market to run 30–50 design partner pilots across the five anchor cities; 12% compliance and security certifications; 8% general and administrative. This capital carries the company through the milestones on the next slide — enough evidence to open a $6–10M Series A in 18–24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Falsifiable milestones — the ones that unlock Series A. Month 6: 20 signed design partners across three cities. Month 12: first $500K–$1M ARR, cohort retention data, two verticals shipped. Month 18: $2M+ ARR, NRR above 110%, first enterprise reference, SOC 2 Type I. Month 24: Series A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pre-seed deck that avoids risks is a red flag. Four categories: market timing, competitive response, execution capacity, macro/FX. For each, we state the risk and the specific mitigation. Investors want to see we have thought about what can kill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optionality is real. Strategic acquirers: Microsoft, Google, SAP, Zoho, Freshworks — all actively acquiring emerging-market SaaS. IPO precedents: MTN, Interswitch, Jumia. DFI-backed exits: growing. We are not pitching a lifestyle business; we are pitching a category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signals for a $10M+ check. Clean cap table. Delaware/UK holdco under evaluation. IP fully owned by Soteria AI Technologies Inc.. NDPR/GDPR by design. SOC 2 Type I on the roadmap. No undisclosed liabilities. Data room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vision. In ten years, Global Office is to emerging-market enterprises what Microsoft 365 became to OECD enterprises — the default operating layer. But engineered differently: AI-native from the substrate, priced for the market it serves, distributed through networks the incumbents cannot access. Category-defining companies do not emerge often. This is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them. Offer the next step: 45-minute product walkthrough, data room access, reference calls with design partners. Ask for the meeting, not for the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AI-Native Business Operating System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 Market Enterprises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93776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  ·  $1.5M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Jonathans, Founder &amp; CEO  ·  Lagos, Nigeria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AI-native platform to run the operational core of every emerging-market enterprise — the category incumbents never built for.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493776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74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  ·  FOUNDER &amp; CEO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shifts are converging — one platform for this market is finally viable.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economy tailwind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Africa's digital economy is projected to reach $712B by 2050, contributing 8.5% of GDP. SSA is the fastest-growing tech investment region per capita.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cost collapse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4069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token has fallen ~80% year-over-year; enterprise workflows that required 12-month builds now ship in weeks. AI-native architecture is the new baseline.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 cloud adoption inflection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cloud/SaaS adoption in Sub-Saharan Africa grew at ~34% CAGR from 2020–2024, outpacing all other regions. Buyer readiness is here.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GSMA Mobile Economy Sub-Saharan Africa 2024; Endeavor Nigeria Insights 2023; Stanford AI Index 2024; IFC/Partech Africa Tech Venture Capital Report 2024.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Emerging-market SMEs run on fragmented, foreign software that was never built for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20–200 person SME runs 8–12 disconnected tools. Data lives in silos; decisions rely on manual reconciliation.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Foreign pricing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USD-priced SaaS consumes 3–5x more of local operating budgets than in OECD markets. Enterprise tiers are out of reach entirely.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context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suites assume high-bandwidth, formalized workflows, and English-only teams. None of that holds in Lagos, Nairobi, or Accra.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intelligence layer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stacks record activity; they do not interpret it. Owners have data but no decision support.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 — one AI-native platform for the entire operational core.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&amp; Leave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70832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53712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&amp; Tasks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4464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67344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Hub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&amp; Payroll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0832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 &amp; Invoicing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84464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67344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&amp; Docs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Control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70832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284464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67344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67344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model  ·  Multi-tenant  ·  Role-based  ·  Offline-tolerant  ·  Low-bandwidth optimized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category: AI-Native Business Operating System (AI-BOS).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2194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ERP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transactions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of modules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0" y="269748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IT-led, 12–24mo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OS / PM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474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4747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Horizontal, per-seat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3474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Team-led, weeks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features on top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copilots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Bolted onto legacy UX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0" y="425196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siloed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956048"/>
            <a:ext cx="11430000" cy="685800"/>
          </a:xfrm>
          <a:prstGeom prst="rect">
            <a:avLst/>
          </a:prstGeom>
          <a:solidFill>
            <a:srgbClr val="13204A"/>
          </a:solidFill>
          <a:ln w="12700">
            <a:solidFill>
              <a:srgbClr val="132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5029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AI-BOS (Global Office)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Observes, interprets, orchestrates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50292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operational 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0" y="5029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days to weeks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category-creation playbook per Play Bigger (2016); pattern precedents include Salesforce (CRM), ServiceNow (ITSM), HubSpot (Inbound).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event stream. One intelligence layer. Every module contributes and benefits.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18320" cy="822960"/>
          </a:xfrm>
          <a:prstGeom prst="rect">
            <a:avLst/>
          </a:prstGeom>
          <a:solidFill>
            <a:srgbClr val="13204A"/>
          </a:solidFill>
          <a:ln w="1905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Workload balancing · Predictive alerts · Suggestive decisions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15468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Event Bus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emits and subscribes — one canonical view of the organization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Modules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4572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Execution · HR · Finance · Comms · Meetings · Docs ·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507492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5166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Foundation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55321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&gt; Dept &gt; User hierarchy · Row-level security · Role-based access · Audit trail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Organization Health Dashboard</a:t>
            </a:r>
          </a:p>
          <a:p>
            <a:r>
              <a:rPr sz="1300">
                <a:solidFill>
                  <a:srgbClr val="C8CEDC"/>
                </a:solidFill>
              </a:rPr>
              <a:t>Real activity signal — attendance, execution, KPIs and AI insight in one glance.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AI Executive Control Center</a:t>
            </a:r>
          </a:p>
          <a:p>
            <a:r>
              <a:rPr sz="1300">
                <a:solidFill>
                  <a:srgbClr val="C8CEDC"/>
                </a:solidFill>
              </a:rPr>
              <a:t>Weighted health score, risk alerts and department performance in a single command surface.</a:t>
            </a:r>
          </a:p>
        </p:txBody>
      </p:sp>
      <p:pic>
        <p:nvPicPr>
          <p:cNvPr id="3" name="Picture 2" descr="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Knowledge Graph Explorer</a:t>
            </a:r>
          </a:p>
          <a:p>
            <a:r>
              <a:rPr sz="1300">
                <a:solidFill>
                  <a:srgbClr val="C8CEDC"/>
                </a:solidFill>
              </a:rPr>
              <a:t>Every person, task, message and decision as a queryable node.</a:t>
            </a:r>
          </a:p>
        </p:txBody>
      </p:sp>
      <p:pic>
        <p:nvPicPr>
          <p:cNvPr id="3" name="Picture 2" descr="knowledg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Workflow Builder</a:t>
            </a:r>
          </a:p>
          <a:p>
            <a:r>
              <a:rPr sz="1300">
                <a:solidFill>
                  <a:srgbClr val="C8CEDC"/>
                </a:solidFill>
              </a:rPr>
              <a:t>Visual IF/THEN automation across every module — composed by operators.</a:t>
            </a:r>
          </a:p>
        </p:txBody>
      </p:sp>
      <p:pic>
        <p:nvPicPr>
          <p:cNvPr id="3" name="Picture 2" descr="work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Meetings Intelligence</a:t>
            </a:r>
          </a:p>
          <a:p>
            <a:r>
              <a:rPr sz="1300">
                <a:solidFill>
                  <a:srgbClr val="C8CEDC"/>
                </a:solidFill>
              </a:rPr>
              <a:t>Live video with AI transcription, summaries and auto-extracted action points.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Execution Engine</a:t>
            </a:r>
          </a:p>
          <a:p>
            <a:r>
              <a:rPr sz="1300">
                <a:solidFill>
                  <a:srgbClr val="C8CEDC"/>
                </a:solidFill>
              </a:rPr>
              <a:t>Kanban delivery with AI priority scoring, workload balancing and slip prediction.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Predictive AI Insights</a:t>
            </a:r>
          </a:p>
          <a:p>
            <a:r>
              <a:rPr sz="1300">
                <a:solidFill>
                  <a:srgbClr val="C8CEDC"/>
                </a:solidFill>
              </a:rPr>
              <a:t>Proactive alerts on slipping work, burnout risk and revenue exposure — before they cost money.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cited, bottom-up market — with an evidence-based path to $100M ARR.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$250B+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operational software spend by 2027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Enterprise Software Forecast 2024; IDC Worldwide SMB Spending Guide 2024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0832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$18–24B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5152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SSA + adjacent EM SME software, ~50M formal SMEs by 2030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45152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MSME Finance Report 2023; Endeavor 2023; Partech Africa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84464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58784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(Yr 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58784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$90–120M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558784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share of SAM — 15–25K paying organizations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58784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assumption based on comparable SaaS penetration curves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presented as a strategic assumption, not a forecast. Ranges reflect uncertainty in formalization rates and FX exposure.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&amp; WHITE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upper-right quadrant is empty. That is where Global Office lives.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828800" y="2194560"/>
            <a:ext cx="8229600" cy="36576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2194560"/>
            <a:ext cx="0" cy="365760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4023360"/>
            <a:ext cx="8229600" cy="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 rot="16200000">
            <a:off x="365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depth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breadth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56032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532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ClickUp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2004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172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7157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329184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32644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805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4453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03920" y="53949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5367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NetSuite / SAP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2651760"/>
            <a:ext cx="320040" cy="32004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Per-organization SaaS, local-currency pricing, metered AI credits.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20 users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modules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$49/org/mo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100 users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modules + AI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5152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$299/org/mo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58784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58784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100–500 users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58784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+ workflow automation + priority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58784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$999/org/mo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Add-ons: AI credits (metered) · Enterprise Edition · Partner channel revenue-share · Verticalized editions from Year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 75–82% consistent with vertical SaaS benchmarks (Meritech Public Comps 2024). All figures are strategic assumptions pending pilot data.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 first. Then adjacent segments. Then verticals.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624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20–200 employees in 5 anchor cities: Lagos, Nairobi, Accra, Cairo, Johannesburg. Founder-led sales + product-led onboarding.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(200–1,000). Partner channels: accounting firms, HR consultancies, business associations. Country coverage doubles.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54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VERTICALIZE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06240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editions: Education, Healthcare, Hospitality, Professional Services. Government pilots. Enterprise Edition GA.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&amp;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Pre-seed. Pre-launch. Platform-ready. We state this plainly.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— YET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multi-tenant platform shipped across 15+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 layer live (insights, anomaly detection)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Founder–market fit: builder is a Nigerian SME operator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thesis validated with 40+ SME operator conversations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pipeline in Lagos, Nairobi, Accra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ARR — not yet; first pilots planned post-round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cohorts — cannot be reported before pilots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LOIs at scale — pipeline, not commitments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references — planned Year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posture reference: Endeavor/DFI pre-seed pattern — evidence of product readiness and market insight, not fabricated traction.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moats that compound over time.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flywheel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strengthens the AI layer for every other org (patterns, anomalies, benchmarks) — anonymized and consented.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lock-in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is where the work happens — attendance, tasks, approvals, payroll. Switching cost grows linearly with adoption.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partner channel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firms, HR consultancies, business associations. A network global incumbents cannot economically replicate.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capital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NDPR/GDPR-ready, MFA, audit trail, encryption. Table-stakes for HR/finance/health — a barrier to latecomers.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Ranges, not fiction. Every assumption will be re-baselined against pilot data.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$2.4–4.2K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organization per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75–82%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SaaS benchmark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10–14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Growth-tier assumption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108–120%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once Scale tier lands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SCENARIO ARR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$18M ARR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orgs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$42M ARR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orgs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$95M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~24,000 orgs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strategic assumptions. Detailed 3-year model with sensitivity delivered separately (XLSX, Phase 3).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Founder–market fit is the strongest signal at this stage.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21945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73152" cy="21945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&amp; CEO — Soteria AI Technologies Inc.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entrepreneur, AI systems strategist, and technology founder. Builds intelligent platforms for large-scale operational and societal challenges. Founder &amp; CEO of Soteria AI Technologies Inc., leading AI-powered products for business operations, decision-making, and workflow orchestration in emerging markets.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POST-ROUND KEY HIRES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 or Nairobi 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of 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handoff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3064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Partner Lead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3064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&amp; CS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pre-seed, SAFE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1600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AI layer; ship 2 vertical editions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2560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95528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0" y="2971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design partner pilots, 5 anchor cities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3520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readiness; NDPR/GDPR certification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55280" y="4526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G&amp;A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4892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finance, 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— WHAT THE ROUND BUYS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Falsifiable milestones. Each one unlocks the next round.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42316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69748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86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signed design partners across 3 anchor cities · First paid conversions · Baseline retention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65760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246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918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$500K–$1M ARR · First cohort retention curves · 2 vertical editions shipped · Partner channel v1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34340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61772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2519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· NRR &gt;110% · First enterprise reference customer · SOC 2 Type I 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166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21208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raise: $6–10M · Expansion into 5 additional markets · Enterprise Edition GA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could kill the company — and how we respond.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timing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27432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 adoption slows or FX crisis compresses budgets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27432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pricing, offline-tolerant architecture, tier-flexible plans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5661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5661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/ Odoo / Microsoft build an African edition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distribution + partner lock-in + AI-native architecture, not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43891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does not scale past 100 orgs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389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Head of Growth hire at $500K ARR; partner channel from Month 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66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2120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/ FX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52120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infra volatility across markets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5212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Multi-PSP integration, USD backup rails, treasury discipline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optionality: strategic, financial, or public.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2860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· Google · SAP · Zoho · Freshworks · Salesforce · Oracle · HubSpot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6080" y="267004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EM SaaS acquirers seeking distribution and product depth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MTN · Safaricom · Access · Naspers · Helios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3858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Telcos and holding groups building enterprise-services portfolios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DFI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6634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exchanges (NGX, JSE) · Cross-listing precedents · DFI secondary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504748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Precedents include Interswitch, Jumia, and growing DFI-backed liquidity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CB Insights EM SaaS M&amp;A tracker 2024; Partech Africa Exit Report 2023.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Institutional-grade governance from day one.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3042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Inc. · Clean cap table · Holdco structure under evaluation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29900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owned by the company · No open-source license contamination · All contributor agreements in place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36758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 architecture · Regional data residency options · Full audit trail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3616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Role-based access · Row-level tenant isolation · SOC 2 Type I on 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50474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 discipline from Month 1 · Independent auditor engaged pre-Series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ten years, Global Office is the default operating layer for every serious enterprise in the emerging world.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Category-defining companies emerge once per generation. This is one of them.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AI-native operating layer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emerging-market enterprises.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Wisdom Jonathans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Soteria AI Technologies Inc.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 product walkthrough  ·  Data room access  ·  Design partner reference calls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Soteria AI Technologies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Office — Investor Deck</dc:title>
  <dc:subject>Pre-Seed Investment Opportunity</dc:subject>
  <dc:creator>Wisdom Jonathans</dc:creator>
  <cp:lastModifiedBy>Wisdom Jonathans</cp:lastModifiedBy>
  <cp:revision>1</cp:revision>
  <dcterms:created xsi:type="dcterms:W3CDTF">2026-07-11T01:13:08Z</dcterms:created>
  <dcterms:modified xsi:type="dcterms:W3CDTF">2026-07-11T01:13:08Z</dcterms:modified>
</cp:coreProperties>
</file>